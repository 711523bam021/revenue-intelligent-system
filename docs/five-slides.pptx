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50000"/>
          </a:xfrm>
          <a:prstGeom prst="rect">
            <a:avLst/>
          </a:prstGeom>
          <a:solidFill>
            <a:srgbClr val="0C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50000"/>
            <a:ext cx="1200000" cy="260000"/>
          </a:xfrm>
          <a:prstGeom prst="rect">
            <a:avLst/>
          </a:prstGeom>
          <a:noFill/>
        </p:spPr>
        <p:txBody>
          <a:bodyPr wrap="square">
            <a:spAutoFit/>
          </a:bodyPr>
          <a:lstStyle/>
          <a:p>
            <a:pPr algn="l"/>
            <a:r>
              <a:rPr sz="1200" b="1">
                <a:solidFill>
                  <a:srgbClr val="2549D8"/>
                </a:solidFill>
                <a:latin typeface="Calibri"/>
              </a:rPr>
              <a:t>01</a:t>
            </a:r>
          </a:p>
        </p:txBody>
      </p:sp>
      <p:sp>
        <p:nvSpPr>
          <p:cNvPr id="4" name="TextBox 3"/>
          <p:cNvSpPr txBox="1"/>
          <p:nvPr/>
        </p:nvSpPr>
        <p:spPr>
          <a:xfrm>
            <a:off x="500000" y="430000"/>
            <a:ext cx="8200000" cy="520000"/>
          </a:xfrm>
          <a:prstGeom prst="rect">
            <a:avLst/>
          </a:prstGeom>
          <a:noFill/>
        </p:spPr>
        <p:txBody>
          <a:bodyPr wrap="square">
            <a:spAutoFit/>
          </a:bodyPr>
          <a:lstStyle/>
          <a:p>
            <a:pPr algn="l"/>
            <a:r>
              <a:rPr sz="2600" b="1">
                <a:solidFill>
                  <a:srgbClr val="0C1A2B"/>
                </a:solidFill>
                <a:latin typeface="Calibri"/>
              </a:rPr>
              <a:t>The manager problem and what the evidence actually shows</a:t>
            </a:r>
          </a:p>
        </p:txBody>
      </p:sp>
      <p:sp>
        <p:nvSpPr>
          <p:cNvPr id="5" name="TextBox 4"/>
          <p:cNvSpPr txBox="1"/>
          <p:nvPr/>
        </p:nvSpPr>
        <p:spPr>
          <a:xfrm>
            <a:off x="500000" y="960000"/>
            <a:ext cx="8200000" cy="400000"/>
          </a:xfrm>
          <a:prstGeom prst="rect">
            <a:avLst/>
          </a:prstGeom>
          <a:noFill/>
        </p:spPr>
        <p:txBody>
          <a:bodyPr wrap="square">
            <a:spAutoFit/>
          </a:bodyPr>
          <a:lstStyle/>
          <a:p>
            <a:pPr algn="l"/>
            <a:r>
              <a:rPr sz="1200" b="0">
                <a:solidFill>
                  <a:srgbClr val="5B6676"/>
                </a:solidFill>
                <a:latin typeface="Calibri"/>
              </a:rPr>
              <a:t>Selected day: 21 Aug 2026 (IST) · 44 records · 30 calls · 14 meetings · usable text 18/44 = 40.9%</a:t>
            </a:r>
          </a:p>
        </p:txBody>
      </p:sp>
      <p:sp>
        <p:nvSpPr>
          <p:cNvPr id="6" name="Rectangle 5"/>
          <p:cNvSpPr/>
          <p:nvPr/>
        </p:nvSpPr>
        <p:spPr>
          <a:xfrm>
            <a:off x="500000" y="1380000"/>
            <a:ext cx="8144000" cy="9000"/>
          </a:xfrm>
          <a:prstGeom prst="rect">
            <a:avLst/>
          </a:prstGeom>
          <a:solidFill>
            <a:srgbClr val="E4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1520000"/>
            <a:ext cx="8144000" cy="420000"/>
          </a:xfrm>
          <a:prstGeom prst="rect">
            <a:avLst/>
          </a:prstGeom>
          <a:noFill/>
        </p:spPr>
        <p:txBody>
          <a:bodyPr wrap="square">
            <a:spAutoFit/>
          </a:bodyPr>
          <a:lstStyle/>
          <a:p>
            <a:pPr algn="l"/>
            <a:r>
              <a:rPr sz="1200" b="0">
                <a:solidFill>
                  <a:srgbClr val="1F2A3A"/>
                </a:solidFill>
                <a:latin typeface="Calibri"/>
              </a:rPr>
              <a:t>Problem: incoming calls and meetings arrive with late transcripts and stored labels that disagree with what was said. A manager needs to know what happened, what needs attention, and where each conversation belongs — without invented pipeline or performance claims.</a:t>
            </a:r>
          </a:p>
        </p:txBody>
      </p:sp>
      <p:sp>
        <p:nvSpPr>
          <p:cNvPr id="8" name="Rectangle 7"/>
          <p:cNvSpPr/>
          <p:nvPr/>
        </p:nvSpPr>
        <p:spPr>
          <a:xfrm>
            <a:off x="500000" y="2020000"/>
            <a:ext cx="8144000" cy="133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00" y="2110000"/>
            <a:ext cx="7900000" cy="260000"/>
          </a:xfrm>
          <a:prstGeom prst="rect">
            <a:avLst/>
          </a:prstGeom>
          <a:noFill/>
        </p:spPr>
        <p:txBody>
          <a:bodyPr wrap="square">
            <a:spAutoFit/>
          </a:bodyPr>
          <a:lstStyle/>
          <a:p>
            <a:pPr algn="l"/>
            <a:r>
              <a:rPr sz="1400" b="1">
                <a:solidFill>
                  <a:srgbClr val="0C1A2B"/>
                </a:solidFill>
                <a:latin typeface="Calibri"/>
              </a:rPr>
              <a:t>1. A live deal's annual price changed inside one call</a:t>
            </a:r>
          </a:p>
        </p:txBody>
      </p:sp>
      <p:sp>
        <p:nvSpPr>
          <p:cNvPr id="10" name="TextBox 9"/>
          <p:cNvSpPr txBox="1"/>
          <p:nvPr/>
        </p:nvSpPr>
        <p:spPr>
          <a:xfrm>
            <a:off x="640000" y="2370000"/>
            <a:ext cx="7700000" cy="300000"/>
          </a:xfrm>
          <a:prstGeom prst="rect">
            <a:avLst/>
          </a:prstGeom>
          <a:noFill/>
        </p:spPr>
        <p:txBody>
          <a:bodyPr wrap="square">
            <a:spAutoFit/>
          </a:bodyPr>
          <a:lstStyle/>
          <a:p>
            <a:pPr algn="l"/>
            <a:r>
              <a:rPr sz="1050" b="0">
                <a:solidFill>
                  <a:srgbClr val="1F2A3A"/>
                </a:solidFill>
                <a:latin typeface="Calibri"/>
              </a:rPr>
              <a:t>The Asterloom buyer was told an annual figure and then challenged why it had risen; the rep explained that the first number had silently bundled a one-time integration fee.</a:t>
            </a:r>
          </a:p>
        </p:txBody>
      </p:sp>
      <p:sp>
        <p:nvSpPr>
          <p:cNvPr id="11" name="TextBox 10"/>
          <p:cNvSpPr txBox="1"/>
          <p:nvPr/>
        </p:nvSpPr>
        <p:spPr>
          <a:xfrm>
            <a:off x="640000" y="2850000"/>
            <a:ext cx="7700000" cy="400000"/>
          </a:xfrm>
          <a:prstGeom prst="rect">
            <a:avLst/>
          </a:prstGeom>
          <a:noFill/>
        </p:spPr>
        <p:txBody>
          <a:bodyPr wrap="square">
            <a:spAutoFit/>
          </a:bodyPr>
          <a:lstStyle/>
          <a:p>
            <a:pPr algn="l"/>
            <a:r>
              <a:rPr sz="950" b="0">
                <a:solidFill>
                  <a:srgbClr val="5B6676"/>
                </a:solidFill>
                <a:latin typeface="Calibri"/>
              </a:rPr>
              <a:t>“But you previously told me INR 26,000. Why has that become INR 39,000?”  — M03, turn 23
Product effect: Deal next steps export for M03, the Sales coaching section of the manager brief, and the routing rule that sends pricing conversations to deal review.</a:t>
            </a:r>
          </a:p>
        </p:txBody>
      </p:sp>
      <p:sp>
        <p:nvSpPr>
          <p:cNvPr id="12" name="Rectangle 11"/>
          <p:cNvSpPr/>
          <p:nvPr/>
        </p:nvSpPr>
        <p:spPr>
          <a:xfrm>
            <a:off x="500000" y="3470000"/>
            <a:ext cx="8144000" cy="133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00" y="3560000"/>
            <a:ext cx="7900000" cy="260000"/>
          </a:xfrm>
          <a:prstGeom prst="rect">
            <a:avLst/>
          </a:prstGeom>
          <a:noFill/>
        </p:spPr>
        <p:txBody>
          <a:bodyPr wrap="square">
            <a:spAutoFit/>
          </a:bodyPr>
          <a:lstStyle/>
          <a:p>
            <a:pPr algn="l"/>
            <a:r>
              <a:rPr sz="1400" b="1">
                <a:solidFill>
                  <a:srgbClr val="0C1A2B"/>
                </a:solidFill>
                <a:latin typeface="Calibri"/>
              </a:rPr>
              <a:t>2. A payment form can reuse the previous payment amount</a:t>
            </a:r>
          </a:p>
        </p:txBody>
      </p:sp>
      <p:sp>
        <p:nvSpPr>
          <p:cNvPr id="14" name="TextBox 13"/>
          <p:cNvSpPr txBox="1"/>
          <p:nvPr/>
        </p:nvSpPr>
        <p:spPr>
          <a:xfrm>
            <a:off x="640000" y="3820000"/>
            <a:ext cx="7700000" cy="300000"/>
          </a:xfrm>
          <a:prstGeom prst="rect">
            <a:avLst/>
          </a:prstGeom>
          <a:noFill/>
        </p:spPr>
        <p:txBody>
          <a:bodyPr wrap="square">
            <a:spAutoFit/>
          </a:bodyPr>
          <a:lstStyle/>
          <a:p>
            <a:pPr algn="l"/>
            <a:r>
              <a:rPr sz="1050" b="0">
                <a:solidFill>
                  <a:srgbClr val="1F2A3A"/>
                </a:solidFill>
                <a:latin typeface="Calibri"/>
              </a:rPr>
              <a:t>Willowfield Trust showed that Mark as paid pre-fills the amount from the previously opened payment, forcing the user to cancel and reopen the form for every item.</a:t>
            </a:r>
          </a:p>
        </p:txBody>
      </p:sp>
      <p:sp>
        <p:nvSpPr>
          <p:cNvPr id="15" name="TextBox 14"/>
          <p:cNvSpPr txBox="1"/>
          <p:nvPr/>
        </p:nvSpPr>
        <p:spPr>
          <a:xfrm>
            <a:off x="640000" y="4300000"/>
            <a:ext cx="7700000" cy="400000"/>
          </a:xfrm>
          <a:prstGeom prst="rect">
            <a:avLst/>
          </a:prstGeom>
          <a:noFill/>
        </p:spPr>
        <p:txBody>
          <a:bodyPr wrap="square">
            <a:spAutoFit/>
          </a:bodyPr>
          <a:lstStyle/>
          <a:p>
            <a:pPr algn="l"/>
            <a:r>
              <a:rPr sz="950" b="0">
                <a:solidFill>
                  <a:srgbClr val="5B6676"/>
                </a:solidFill>
                <a:latin typeface="Calibri"/>
              </a:rPr>
              <a:t>“The amount from the previous item appears in the next one.”  — M07, turn 22
Product effect: Customer success export for M07, the top item in the manager brief's decision list, and the M07 human-review flag that appears when revision 2 adds the transcript.</a:t>
            </a:r>
          </a:p>
        </p:txBody>
      </p:sp>
      <p:sp>
        <p:nvSpPr>
          <p:cNvPr id="16" name="Rectangle 15"/>
          <p:cNvSpPr/>
          <p:nvPr/>
        </p:nvSpPr>
        <p:spPr>
          <a:xfrm>
            <a:off x="500000" y="4920000"/>
            <a:ext cx="8144000" cy="133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00" y="5010000"/>
            <a:ext cx="7900000" cy="260000"/>
          </a:xfrm>
          <a:prstGeom prst="rect">
            <a:avLst/>
          </a:prstGeom>
          <a:noFill/>
        </p:spPr>
        <p:txBody>
          <a:bodyPr wrap="square">
            <a:spAutoFit/>
          </a:bodyPr>
          <a:lstStyle/>
          <a:p>
            <a:pPr algn="l"/>
            <a:r>
              <a:rPr sz="1400" b="1">
                <a:solidFill>
                  <a:srgbClr val="0C1A2B"/>
                </a:solidFill>
                <a:latin typeface="Calibri"/>
              </a:rPr>
              <a:t>3. A forced migration does not meet the customer's stated requirement</a:t>
            </a:r>
          </a:p>
        </p:txBody>
      </p:sp>
      <p:sp>
        <p:nvSpPr>
          <p:cNvPr id="18" name="TextBox 17"/>
          <p:cNvSpPr txBox="1"/>
          <p:nvPr/>
        </p:nvSpPr>
        <p:spPr>
          <a:xfrm>
            <a:off x="640000" y="5270000"/>
            <a:ext cx="7700000" cy="300000"/>
          </a:xfrm>
          <a:prstGeom prst="rect">
            <a:avLst/>
          </a:prstGeom>
          <a:noFill/>
        </p:spPr>
        <p:txBody>
          <a:bodyPr wrap="square">
            <a:spAutoFit/>
          </a:bodyPr>
          <a:lstStyle/>
          <a:p>
            <a:pPr algn="l"/>
            <a:r>
              <a:rPr sz="1050" b="0">
                <a:solidFill>
                  <a:srgbClr val="1F2A3A"/>
                </a:solidFill>
                <a:latin typeface="Calibri"/>
              </a:rPr>
              <a:t>Cedarwave must move off a closing prepaid programme, but their main condition is credit, they already hold an INR 1.3 crore credit line, and the proposed replacement is still prepaid.</a:t>
            </a:r>
          </a:p>
        </p:txBody>
      </p:sp>
      <p:sp>
        <p:nvSpPr>
          <p:cNvPr id="19" name="TextBox 18"/>
          <p:cNvSpPr txBox="1"/>
          <p:nvPr/>
        </p:nvSpPr>
        <p:spPr>
          <a:xfrm>
            <a:off x="640000" y="5750000"/>
            <a:ext cx="7700000" cy="400000"/>
          </a:xfrm>
          <a:prstGeom prst="rect">
            <a:avLst/>
          </a:prstGeom>
          <a:noFill/>
        </p:spPr>
        <p:txBody>
          <a:bodyPr wrap="square">
            <a:spAutoFit/>
          </a:bodyPr>
          <a:lstStyle/>
          <a:p>
            <a:pPr algn="l"/>
            <a:r>
              <a:rPr sz="950" b="0">
                <a:solidFill>
                  <a:srgbClr val="5B6676"/>
                </a:solidFill>
                <a:latin typeface="Calibri"/>
              </a:rPr>
              <a:t>“moving from prepaid to credit is the main issue for us”  — M04, turn 11
Product effect: Customer success export for M04, the migration risk item in the customer-issues section, and the rule that an existing customer's migration is routed to customer success rather than a new deal.</a:t>
            </a:r>
          </a:p>
        </p:txBody>
      </p:sp>
      <p:sp>
        <p:nvSpPr>
          <p:cNvPr id="20" name="TextBox 19"/>
          <p:cNvSpPr txBox="1"/>
          <p:nvPr/>
        </p:nvSpPr>
        <p:spPr>
          <a:xfrm>
            <a:off x="500000" y="6600000"/>
            <a:ext cx="8200000" cy="260000"/>
          </a:xfrm>
          <a:prstGeom prst="rect">
            <a:avLst/>
          </a:prstGeom>
          <a:noFill/>
        </p:spPr>
        <p:txBody>
          <a:bodyPr wrap="square">
            <a:spAutoFit/>
          </a:bodyPr>
          <a:lstStyle/>
          <a:p>
            <a:pPr algn="l"/>
            <a:r>
              <a:rPr sz="900" b="0">
                <a:solidFill>
                  <a:srgbClr val="5B6676"/>
                </a:solidFill>
                <a:latin typeface="Calibri"/>
              </a:rPr>
              <a:t>All three citations are re-checked against the current source text in the app and by pytest.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50000"/>
          </a:xfrm>
          <a:prstGeom prst="rect">
            <a:avLst/>
          </a:prstGeom>
          <a:solidFill>
            <a:srgbClr val="0C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50000"/>
            <a:ext cx="1200000" cy="260000"/>
          </a:xfrm>
          <a:prstGeom prst="rect">
            <a:avLst/>
          </a:prstGeom>
          <a:noFill/>
        </p:spPr>
        <p:txBody>
          <a:bodyPr wrap="square">
            <a:spAutoFit/>
          </a:bodyPr>
          <a:lstStyle/>
          <a:p>
            <a:pPr algn="l"/>
            <a:r>
              <a:rPr sz="1200" b="1">
                <a:solidFill>
                  <a:srgbClr val="2549D8"/>
                </a:solidFill>
                <a:latin typeface="Calibri"/>
              </a:rPr>
              <a:t>02</a:t>
            </a:r>
          </a:p>
        </p:txBody>
      </p:sp>
      <p:sp>
        <p:nvSpPr>
          <p:cNvPr id="4" name="TextBox 3"/>
          <p:cNvSpPr txBox="1"/>
          <p:nvPr/>
        </p:nvSpPr>
        <p:spPr>
          <a:xfrm>
            <a:off x="500000" y="430000"/>
            <a:ext cx="8200000" cy="520000"/>
          </a:xfrm>
          <a:prstGeom prst="rect">
            <a:avLst/>
          </a:prstGeom>
          <a:noFill/>
        </p:spPr>
        <p:txBody>
          <a:bodyPr wrap="square">
            <a:spAutoFit/>
          </a:bodyPr>
          <a:lstStyle/>
          <a:p>
            <a:pPr algn="l"/>
            <a:r>
              <a:rPr sz="2600" b="1">
                <a:solidFill>
                  <a:srgbClr val="0C1A2B"/>
                </a:solidFill>
                <a:latin typeface="Calibri"/>
              </a:rPr>
              <a:t>Interface decisions — and what I deliberately left out</a:t>
            </a:r>
          </a:p>
        </p:txBody>
      </p:sp>
      <p:sp>
        <p:nvSpPr>
          <p:cNvPr id="5" name="TextBox 4"/>
          <p:cNvSpPr txBox="1"/>
          <p:nvPr/>
        </p:nvSpPr>
        <p:spPr>
          <a:xfrm>
            <a:off x="500000" y="960000"/>
            <a:ext cx="8200000" cy="400000"/>
          </a:xfrm>
          <a:prstGeom prst="rect">
            <a:avLst/>
          </a:prstGeom>
          <a:noFill/>
        </p:spPr>
        <p:txBody>
          <a:bodyPr wrap="square">
            <a:spAutoFit/>
          </a:bodyPr>
          <a:lstStyle/>
          <a:p>
            <a:pPr algn="l"/>
            <a:r>
              <a:rPr sz="1200" b="0">
                <a:solidFill>
                  <a:srgbClr val="5B6676"/>
                </a:solidFill>
                <a:latin typeface="Calibri"/>
              </a:rPr>
              <a:t>One screen answers: what happened, what needs me, where does it belong.</a:t>
            </a:r>
          </a:p>
        </p:txBody>
      </p:sp>
      <p:sp>
        <p:nvSpPr>
          <p:cNvPr id="6" name="Rectangle 5"/>
          <p:cNvSpPr/>
          <p:nvPr/>
        </p:nvSpPr>
        <p:spPr>
          <a:xfrm>
            <a:off x="500000" y="1380000"/>
            <a:ext cx="8144000" cy="9000"/>
          </a:xfrm>
          <a:prstGeom prst="rect">
            <a:avLst/>
          </a:prstGeom>
          <a:solidFill>
            <a:srgbClr val="E4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1600000"/>
            <a:ext cx="4200000" cy="4300000"/>
          </a:xfrm>
          <a:prstGeom prst="rect">
            <a:avLst/>
          </a:prstGeom>
          <a:noFill/>
        </p:spPr>
        <p:txBody>
          <a:bodyPr wrap="square">
            <a:spAutoFit/>
          </a:bodyPr>
          <a:lstStyle/>
          <a:p>
            <a:pPr>
              <a:spcAft>
                <a:spcPts val="600"/>
              </a:spcAft>
            </a:pPr>
            <a:r>
              <a:rPr sz="1150">
                <a:solidFill>
                  <a:srgbClr val="1F2A3A"/>
                </a:solidFill>
                <a:latin typeface="Calibri"/>
              </a:rPr>
              <a:t>• Overview leads with exceptions, not total activity: coverage, review load and overrides, each with its denominator.</a:t>
            </a:r>
          </a:p>
          <a:p>
            <a:pPr>
              <a:spcAft>
                <a:spcPts val="600"/>
              </a:spcAft>
            </a:pPr>
            <a:r>
              <a:rPr sz="1150">
                <a:solidFill>
                  <a:srgbClr val="1F2A3A"/>
                </a:solidFill>
                <a:latin typeface="Calibri"/>
              </a:rPr>
              <a:t>• Call representatives and meeting organisers are separate tables — an organiser is not assumed to be the seller.</a:t>
            </a:r>
          </a:p>
          <a:p>
            <a:pPr>
              <a:spcAft>
                <a:spcPts val="600"/>
              </a:spcAft>
            </a:pPr>
            <a:r>
              <a:rPr sz="1150">
                <a:solidFill>
                  <a:srgbClr val="1F2A3A"/>
                </a:solidFill>
                <a:latin typeface="Calibri"/>
              </a:rPr>
              <a:t>• Every headline number is a link into the filtered inbox, so a manager lands on the records behind it.</a:t>
            </a:r>
          </a:p>
          <a:p>
            <a:pPr>
              <a:spcAft>
                <a:spcPts val="600"/>
              </a:spcAft>
            </a:pPr>
            <a:r>
              <a:rPr sz="1150">
                <a:solidFill>
                  <a:srgbClr val="1F2A3A"/>
                </a:solidFill>
                <a:latin typeface="Calibri"/>
              </a:rPr>
              <a:t>• The inbox shows suggested and effective routes side by side; manual overrides stay visibly distinct.</a:t>
            </a:r>
          </a:p>
          <a:p>
            <a:pPr>
              <a:spcAft>
                <a:spcPts val="600"/>
              </a:spcAft>
            </a:pPr>
            <a:r>
              <a:rPr sz="1150">
                <a:solidFill>
                  <a:srgbClr val="1F2A3A"/>
                </a:solidFill>
                <a:latin typeface="Calibri"/>
              </a:rPr>
              <a:t>• Detail view puts the cited passage next to the analysis and highlights it in the transcript.</a:t>
            </a:r>
          </a:p>
          <a:p>
            <a:pPr>
              <a:spcAft>
                <a:spcPts val="600"/>
              </a:spcAft>
            </a:pPr>
            <a:r>
              <a:rPr sz="1150">
                <a:solidFill>
                  <a:srgbClr val="1F2A3A"/>
                </a:solidFill>
                <a:latin typeface="Calibri"/>
              </a:rPr>
              <a:t>• Data Quality exposes missing text, stale analyses and failed citation checks instead of hiding them.</a:t>
            </a:r>
          </a:p>
        </p:txBody>
      </p:sp>
      <p:sp>
        <p:nvSpPr>
          <p:cNvPr id="8" name="Rectangle 7"/>
          <p:cNvSpPr/>
          <p:nvPr/>
        </p:nvSpPr>
        <p:spPr>
          <a:xfrm>
            <a:off x="5000000" y="1600000"/>
            <a:ext cx="3640000" cy="430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80000" y="1700000"/>
            <a:ext cx="3300000" cy="260000"/>
          </a:xfrm>
          <a:prstGeom prst="rect">
            <a:avLst/>
          </a:prstGeom>
          <a:noFill/>
        </p:spPr>
        <p:txBody>
          <a:bodyPr wrap="square">
            <a:spAutoFit/>
          </a:bodyPr>
          <a:lstStyle/>
          <a:p>
            <a:pPr algn="l"/>
            <a:r>
              <a:rPr sz="1300" b="1">
                <a:solidFill>
                  <a:srgbClr val="0C1A2B"/>
                </a:solidFill>
                <a:latin typeface="Calibri"/>
              </a:rPr>
              <a:t>Deliberately excluded</a:t>
            </a:r>
          </a:p>
        </p:txBody>
      </p:sp>
      <p:sp>
        <p:nvSpPr>
          <p:cNvPr id="10" name="TextBox 9"/>
          <p:cNvSpPr txBox="1"/>
          <p:nvPr/>
        </p:nvSpPr>
        <p:spPr>
          <a:xfrm>
            <a:off x="5180000" y="2040000"/>
            <a:ext cx="3300000" cy="3700000"/>
          </a:xfrm>
          <a:prstGeom prst="rect">
            <a:avLst/>
          </a:prstGeom>
          <a:noFill/>
        </p:spPr>
        <p:txBody>
          <a:bodyPr wrap="square">
            <a:spAutoFit/>
          </a:bodyPr>
          <a:lstStyle/>
          <a:p>
            <a:pPr>
              <a:spcAft>
                <a:spcPts val="600"/>
              </a:spcAft>
            </a:pPr>
            <a:r>
              <a:rPr sz="1050">
                <a:solidFill>
                  <a:srgbClr val="5B6676"/>
                </a:solidFill>
                <a:latin typeface="Calibri"/>
              </a:rPr>
              <a:t>• Pipeline value, revenue, deal stage and forecasts: no opportunity table is supplied.</a:t>
            </a:r>
          </a:p>
          <a:p>
            <a:pPr>
              <a:spcAft>
                <a:spcPts val="600"/>
              </a:spcAft>
            </a:pPr>
            <a:r>
              <a:rPr sz="1050">
                <a:solidFill>
                  <a:srgbClr val="5B6676"/>
                </a:solidFill>
                <a:latin typeface="Calibri"/>
              </a:rPr>
              <a:t>• Performance rankings and talk ratios: missing inputs and no reliable timing for calls.</a:t>
            </a:r>
          </a:p>
          <a:p>
            <a:pPr>
              <a:spcAft>
                <a:spcPts val="600"/>
              </a:spcAft>
            </a:pPr>
            <a:r>
              <a:rPr sz="1050">
                <a:solidFill>
                  <a:srgbClr val="5B6676"/>
                </a:solidFill>
                <a:latin typeface="Calibri"/>
              </a:rPr>
              <a:t>• Account matching from similar names or titles: a proposed association is not a confirmed account.</a:t>
            </a:r>
          </a:p>
          <a:p>
            <a:pPr>
              <a:spcAft>
                <a:spcPts val="600"/>
              </a:spcAft>
            </a:pPr>
            <a:r>
              <a:rPr sz="1050">
                <a:solidFill>
                  <a:srgbClr val="5B6676"/>
                </a:solidFill>
                <a:latin typeface="Calibri"/>
              </a:rPr>
              <a:t>• A live model call: pre-generated analysis plus deterministic rules keeps the product usable with no API key.</a:t>
            </a:r>
          </a:p>
          <a:p>
            <a:pPr>
              <a:spcAft>
                <a:spcPts val="600"/>
              </a:spcAft>
            </a:pPr>
            <a:r>
              <a:rPr sz="1050">
                <a:solidFill>
                  <a:srgbClr val="5B6676"/>
                </a:solidFill>
                <a:latin typeface="Calibri"/>
              </a:rPr>
              <a:t>• Dashboard date filtering: all activity is one local day, so person and source-type filters do the work.</a:t>
            </a:r>
          </a:p>
        </p:txBody>
      </p:sp>
      <p:sp>
        <p:nvSpPr>
          <p:cNvPr id="11" name="TextBox 10"/>
          <p:cNvSpPr txBox="1"/>
          <p:nvPr/>
        </p:nvSpPr>
        <p:spPr>
          <a:xfrm>
            <a:off x="500000" y="6600000"/>
            <a:ext cx="8200000" cy="260000"/>
          </a:xfrm>
          <a:prstGeom prst="rect">
            <a:avLst/>
          </a:prstGeom>
          <a:noFill/>
        </p:spPr>
        <p:txBody>
          <a:bodyPr wrap="square">
            <a:spAutoFit/>
          </a:bodyPr>
          <a:lstStyle/>
          <a:p>
            <a:pPr algn="l"/>
            <a:r>
              <a:rPr sz="900" b="0">
                <a:solidFill>
                  <a:srgbClr val="5B6676"/>
                </a:solidFill>
                <a:latin typeface="Calibri"/>
              </a:rPr>
              <a:t>Implementations: React + Vite + Tailwind, FastAPI + SQLite. 26/26 replay checks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50000"/>
          </a:xfrm>
          <a:prstGeom prst="rect">
            <a:avLst/>
          </a:prstGeom>
          <a:solidFill>
            <a:srgbClr val="0C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50000"/>
            <a:ext cx="1200000" cy="260000"/>
          </a:xfrm>
          <a:prstGeom prst="rect">
            <a:avLst/>
          </a:prstGeom>
          <a:noFill/>
        </p:spPr>
        <p:txBody>
          <a:bodyPr wrap="square">
            <a:spAutoFit/>
          </a:bodyPr>
          <a:lstStyle/>
          <a:p>
            <a:pPr algn="l"/>
            <a:r>
              <a:rPr sz="1200" b="1">
                <a:solidFill>
                  <a:srgbClr val="2549D8"/>
                </a:solidFill>
                <a:latin typeface="Calibri"/>
              </a:rPr>
              <a:t>03</a:t>
            </a:r>
          </a:p>
        </p:txBody>
      </p:sp>
      <p:sp>
        <p:nvSpPr>
          <p:cNvPr id="4" name="TextBox 3"/>
          <p:cNvSpPr txBox="1"/>
          <p:nvPr/>
        </p:nvSpPr>
        <p:spPr>
          <a:xfrm>
            <a:off x="500000" y="430000"/>
            <a:ext cx="8200000" cy="520000"/>
          </a:xfrm>
          <a:prstGeom prst="rect">
            <a:avLst/>
          </a:prstGeom>
          <a:noFill/>
        </p:spPr>
        <p:txBody>
          <a:bodyPr wrap="square">
            <a:spAutoFit/>
          </a:bodyPr>
          <a:lstStyle/>
          <a:p>
            <a:pPr algn="l"/>
            <a:r>
              <a:rPr sz="2600" b="1">
                <a:solidFill>
                  <a:srgbClr val="0C1A2B"/>
                </a:solidFill>
                <a:latin typeface="Calibri"/>
              </a:rPr>
              <a:t>Routing and export design</a:t>
            </a:r>
          </a:p>
        </p:txBody>
      </p:sp>
      <p:sp>
        <p:nvSpPr>
          <p:cNvPr id="5" name="TextBox 4"/>
          <p:cNvSpPr txBox="1"/>
          <p:nvPr/>
        </p:nvSpPr>
        <p:spPr>
          <a:xfrm>
            <a:off x="500000" y="960000"/>
            <a:ext cx="8200000" cy="400000"/>
          </a:xfrm>
          <a:prstGeom prst="rect">
            <a:avLst/>
          </a:prstGeom>
          <a:noFill/>
        </p:spPr>
        <p:txBody>
          <a:bodyPr wrap="square">
            <a:spAutoFit/>
          </a:bodyPr>
          <a:lstStyle/>
          <a:p>
            <a:pPr algn="l"/>
            <a:r>
              <a:rPr sz="1200" b="0">
                <a:solidFill>
                  <a:srgbClr val="5B6676"/>
                </a:solidFill>
                <a:latin typeface="Calibri"/>
              </a:rPr>
              <a:t>Seven destinations; a record can hold more than one, and a manager can always overrule the engine.</a:t>
            </a:r>
          </a:p>
        </p:txBody>
      </p:sp>
      <p:sp>
        <p:nvSpPr>
          <p:cNvPr id="6" name="Rectangle 5"/>
          <p:cNvSpPr/>
          <p:nvPr/>
        </p:nvSpPr>
        <p:spPr>
          <a:xfrm>
            <a:off x="500000" y="1380000"/>
            <a:ext cx="8144000" cy="9000"/>
          </a:xfrm>
          <a:prstGeom prst="rect">
            <a:avLst/>
          </a:prstGeom>
          <a:solidFill>
            <a:srgbClr val="E4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1500000"/>
            <a:ext cx="8144000" cy="300000"/>
          </a:xfrm>
          <a:prstGeom prst="rect">
            <a:avLst/>
          </a:prstGeom>
          <a:noFill/>
        </p:spPr>
        <p:txBody>
          <a:bodyPr wrap="square">
            <a:spAutoFit/>
          </a:bodyPr>
          <a:lstStyle/>
          <a:p>
            <a:pPr algn="l"/>
            <a:r>
              <a:rPr sz="1100" b="1">
                <a:solidFill>
                  <a:srgbClr val="0C1A2B"/>
                </a:solidFill>
                <a:latin typeface="Calibri"/>
              </a:rPr>
              <a:t>Effective route assignments</a:t>
            </a:r>
          </a:p>
        </p:txBody>
      </p:sp>
      <p:sp>
        <p:nvSpPr>
          <p:cNvPr id="8" name="TextBox 7"/>
          <p:cNvSpPr txBox="1"/>
          <p:nvPr/>
        </p:nvSpPr>
        <p:spPr>
          <a:xfrm>
            <a:off x="500000" y="1740000"/>
            <a:ext cx="8144000" cy="420000"/>
          </a:xfrm>
          <a:prstGeom prst="rect">
            <a:avLst/>
          </a:prstGeom>
          <a:noFill/>
        </p:spPr>
        <p:txBody>
          <a:bodyPr wrap="square">
            <a:spAutoFit/>
          </a:bodyPr>
          <a:lstStyle/>
          <a:p>
            <a:pPr algn="l"/>
            <a:r>
              <a:rPr sz="950" b="0">
                <a:solidFill>
                  <a:srgbClr val="5B6676"/>
                </a:solidFill>
                <a:latin typeface="Calibri"/>
              </a:rPr>
              <a:t>Deal next steps 3 · Customer follow-up 10 · Sales coaching 7 · Customer success / product issue 3 · Internal or vendor / partnership 4 · No action / informational 3 · Human review required 29</a:t>
            </a:r>
          </a:p>
        </p:txBody>
      </p:sp>
      <p:sp>
        <p:nvSpPr>
          <p:cNvPr id="9" name="TextBox 8"/>
          <p:cNvSpPr txBox="1"/>
          <p:nvPr/>
        </p:nvSpPr>
        <p:spPr>
          <a:xfrm>
            <a:off x="500000" y="2100000"/>
            <a:ext cx="5000000" cy="260000"/>
          </a:xfrm>
          <a:prstGeom prst="rect">
            <a:avLst/>
          </a:prstGeom>
          <a:noFill/>
        </p:spPr>
        <p:txBody>
          <a:bodyPr wrap="square">
            <a:spAutoFit/>
          </a:bodyPr>
          <a:lstStyle/>
          <a:p>
            <a:pPr algn="l"/>
            <a:r>
              <a:rPr sz="1000" b="0">
                <a:solidFill>
                  <a:srgbClr val="5B6676"/>
                </a:solidFill>
                <a:latin typeface="Calibri"/>
              </a:rPr>
              <a:t>59 assignments across 44 records; 15 record(s) hold multiple routes.</a:t>
            </a:r>
          </a:p>
        </p:txBody>
      </p:sp>
      <p:sp>
        <p:nvSpPr>
          <p:cNvPr id="10" name="Rectangle 9"/>
          <p:cNvSpPr/>
          <p:nvPr/>
        </p:nvSpPr>
        <p:spPr>
          <a:xfrm>
            <a:off x="500000" y="2420000"/>
            <a:ext cx="8144000" cy="255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000" y="2510000"/>
            <a:ext cx="7800000" cy="260000"/>
          </a:xfrm>
          <a:prstGeom prst="rect">
            <a:avLst/>
          </a:prstGeom>
          <a:noFill/>
        </p:spPr>
        <p:txBody>
          <a:bodyPr wrap="square">
            <a:spAutoFit/>
          </a:bodyPr>
          <a:lstStyle/>
          <a:p>
            <a:pPr algn="l"/>
            <a:r>
              <a:rPr sz="1300" b="1">
                <a:solidFill>
                  <a:srgbClr val="0C1A2B"/>
                </a:solidFill>
                <a:latin typeface="Calibri"/>
              </a:rPr>
              <a:t>Difficult case — M04 Cedarwave Distribution</a:t>
            </a:r>
          </a:p>
        </p:txBody>
      </p:sp>
      <p:sp>
        <p:nvSpPr>
          <p:cNvPr id="12" name="TextBox 11"/>
          <p:cNvSpPr txBox="1"/>
          <p:nvPr/>
        </p:nvSpPr>
        <p:spPr>
          <a:xfrm>
            <a:off x="650000" y="2820000"/>
            <a:ext cx="7800000" cy="2000000"/>
          </a:xfrm>
          <a:prstGeom prst="rect">
            <a:avLst/>
          </a:prstGeom>
          <a:noFill/>
        </p:spPr>
        <p:txBody>
          <a:bodyPr wrap="square">
            <a:spAutoFit/>
          </a:bodyPr>
          <a:lstStyle/>
          <a:p>
            <a:pPr algn="l"/>
            <a:r>
              <a:rPr sz="1100" b="0">
                <a:solidFill>
                  <a:srgbClr val="1F2A3A"/>
                </a:solidFill>
                <a:latin typeface="Calibri"/>
              </a:rPr>
              <a:t>The transcript contains pricing, a forced migration and a proposal request, so keyword routing would file it as a deal. The customer's stated condition is credit, they already hold an INR 1.3 crore credit line, the replacement is still prepaid, and they ask what SpendNest adds beyond the bank portal. Routed to Customer success with an owed follow-up: this is retention and product fit, not new pipeline. Evidence: turn 11 (“moving from prepaid to credit is the main issue for us”) and turn 26 (“Then what do we gain by adding SpendNest?”).</a:t>
            </a:r>
          </a:p>
        </p:txBody>
      </p:sp>
      <p:sp>
        <p:nvSpPr>
          <p:cNvPr id="13" name="TextBox 12"/>
          <p:cNvSpPr txBox="1"/>
          <p:nvPr/>
        </p:nvSpPr>
        <p:spPr>
          <a:xfrm>
            <a:off x="500000" y="5100000"/>
            <a:ext cx="8144000" cy="900000"/>
          </a:xfrm>
          <a:prstGeom prst="rect">
            <a:avLst/>
          </a:prstGeom>
          <a:noFill/>
        </p:spPr>
        <p:txBody>
          <a:bodyPr wrap="square">
            <a:spAutoFit/>
          </a:bodyPr>
          <a:lstStyle/>
          <a:p>
            <a:pPr algn="l"/>
            <a:r>
              <a:rPr sz="1050" b="0">
                <a:solidFill>
                  <a:srgbClr val="5B6676"/>
                </a:solidFill>
                <a:latin typeface="Calibri"/>
              </a:rPr>
              <a:t>Evidence, multiple destinations and corrections: each output repeats the source identity and its cited passages. A manual route replaces the effective destination for exports but never the stored suggestion; the change is audited with a reason, and only an explicit reset clears it.</a:t>
            </a:r>
          </a:p>
        </p:txBody>
      </p:sp>
      <p:sp>
        <p:nvSpPr>
          <p:cNvPr id="14" name="TextBox 13"/>
          <p:cNvSpPr txBox="1"/>
          <p:nvPr/>
        </p:nvSpPr>
        <p:spPr>
          <a:xfrm>
            <a:off x="500000" y="6600000"/>
            <a:ext cx="8200000" cy="260000"/>
          </a:xfrm>
          <a:prstGeom prst="rect">
            <a:avLst/>
          </a:prstGeom>
          <a:noFill/>
        </p:spPr>
        <p:txBody>
          <a:bodyPr wrap="square">
            <a:spAutoFit/>
          </a:bodyPr>
          <a:lstStyle/>
          <a:p>
            <a:pPr algn="l"/>
            <a:r>
              <a:rPr sz="900" b="0">
                <a:solidFill>
                  <a:srgbClr val="5B6676"/>
                </a:solidFill>
                <a:latin typeface="Calibri"/>
              </a:rPr>
              <a:t>Exports: one markdown file per effective route under exports/2026-08-21/, plus needs-review intake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50000"/>
          </a:xfrm>
          <a:prstGeom prst="rect">
            <a:avLst/>
          </a:prstGeom>
          <a:solidFill>
            <a:srgbClr val="0C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50000"/>
            <a:ext cx="1200000" cy="260000"/>
          </a:xfrm>
          <a:prstGeom prst="rect">
            <a:avLst/>
          </a:prstGeom>
          <a:noFill/>
        </p:spPr>
        <p:txBody>
          <a:bodyPr wrap="square">
            <a:spAutoFit/>
          </a:bodyPr>
          <a:lstStyle/>
          <a:p>
            <a:pPr algn="l"/>
            <a:r>
              <a:rPr sz="1200" b="1">
                <a:solidFill>
                  <a:srgbClr val="2549D8"/>
                </a:solidFill>
                <a:latin typeface="Calibri"/>
              </a:rPr>
              <a:t>04</a:t>
            </a:r>
          </a:p>
        </p:txBody>
      </p:sp>
      <p:sp>
        <p:nvSpPr>
          <p:cNvPr id="4" name="TextBox 3"/>
          <p:cNvSpPr txBox="1"/>
          <p:nvPr/>
        </p:nvSpPr>
        <p:spPr>
          <a:xfrm>
            <a:off x="500000" y="430000"/>
            <a:ext cx="8200000" cy="520000"/>
          </a:xfrm>
          <a:prstGeom prst="rect">
            <a:avLst/>
          </a:prstGeom>
          <a:noFill/>
        </p:spPr>
        <p:txBody>
          <a:bodyPr wrap="square">
            <a:spAutoFit/>
          </a:bodyPr>
          <a:lstStyle/>
          <a:p>
            <a:pPr algn="l"/>
            <a:r>
              <a:rPr sz="2600" b="1">
                <a:solidFill>
                  <a:srgbClr val="0C1A2B"/>
                </a:solidFill>
                <a:latin typeface="Calibri"/>
              </a:rPr>
              <a:t>Validation — numbers and conclusions checked against source</a:t>
            </a:r>
          </a:p>
        </p:txBody>
      </p:sp>
      <p:sp>
        <p:nvSpPr>
          <p:cNvPr id="5" name="TextBox 4"/>
          <p:cNvSpPr txBox="1"/>
          <p:nvPr/>
        </p:nvSpPr>
        <p:spPr>
          <a:xfrm>
            <a:off x="500000" y="960000"/>
            <a:ext cx="8200000" cy="400000"/>
          </a:xfrm>
          <a:prstGeom prst="rect">
            <a:avLst/>
          </a:prstGeom>
          <a:noFill/>
        </p:spPr>
        <p:txBody>
          <a:bodyPr wrap="square">
            <a:spAutoFit/>
          </a:bodyPr>
          <a:lstStyle/>
          <a:p>
            <a:pPr algn="l"/>
            <a:r>
              <a:rPr sz="1200" b="0">
                <a:solidFill>
                  <a:srgbClr val="5B6676"/>
                </a:solidFill>
                <a:latin typeface="Calibri"/>
              </a:rPr>
              <a:t>Nothing here is asserted from memory; each value is recomputed by the app.</a:t>
            </a:r>
          </a:p>
        </p:txBody>
      </p:sp>
      <p:sp>
        <p:nvSpPr>
          <p:cNvPr id="6" name="Rectangle 5"/>
          <p:cNvSpPr/>
          <p:nvPr/>
        </p:nvSpPr>
        <p:spPr>
          <a:xfrm>
            <a:off x="500000" y="1380000"/>
            <a:ext cx="8144000" cy="9000"/>
          </a:xfrm>
          <a:prstGeom prst="rect">
            <a:avLst/>
          </a:prstGeom>
          <a:solidFill>
            <a:srgbClr val="E4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0000" y="1580000"/>
            <a:ext cx="3900000" cy="205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00" y="1670000"/>
            <a:ext cx="3600000" cy="250000"/>
          </a:xfrm>
          <a:prstGeom prst="rect">
            <a:avLst/>
          </a:prstGeom>
          <a:noFill/>
        </p:spPr>
        <p:txBody>
          <a:bodyPr wrap="square">
            <a:spAutoFit/>
          </a:bodyPr>
          <a:lstStyle/>
          <a:p>
            <a:pPr algn="l"/>
            <a:r>
              <a:rPr sz="1300" b="1">
                <a:solidFill>
                  <a:srgbClr val="0C1A2B"/>
                </a:solidFill>
                <a:latin typeface="Calibri"/>
              </a:rPr>
              <a:t>Key metric: transcript coverage</a:t>
            </a:r>
          </a:p>
        </p:txBody>
      </p:sp>
      <p:sp>
        <p:nvSpPr>
          <p:cNvPr id="9" name="TextBox 8"/>
          <p:cNvSpPr txBox="1"/>
          <p:nvPr/>
        </p:nvSpPr>
        <p:spPr>
          <a:xfrm>
            <a:off x="640000" y="1980000"/>
            <a:ext cx="3600000" cy="1500000"/>
          </a:xfrm>
          <a:prstGeom prst="rect">
            <a:avLst/>
          </a:prstGeom>
          <a:noFill/>
        </p:spPr>
        <p:txBody>
          <a:bodyPr wrap="square">
            <a:spAutoFit/>
          </a:bodyPr>
          <a:lstStyle/>
          <a:p>
            <a:pPr>
              <a:spcAft>
                <a:spcPts val="600"/>
              </a:spcAft>
            </a:pPr>
            <a:r>
              <a:rPr sz="1000">
                <a:solidFill>
                  <a:srgbClr val="1F2A3A"/>
                </a:solidFill>
                <a:latin typeface="Calibri"/>
              </a:rPr>
              <a:t>• Numerator: records with nonblank call text or at least one nonblank turn = 18.</a:t>
            </a:r>
          </a:p>
          <a:p>
            <a:pPr>
              <a:spcAft>
                <a:spcPts val="600"/>
              </a:spcAft>
            </a:pPr>
            <a:r>
              <a:rPr sz="1000">
                <a:solidFill>
                  <a:srgbClr val="1F2A3A"/>
                </a:solidFill>
                <a:latin typeface="Calibri"/>
              </a:rPr>
              <a:t>• Denominator: unique selected records in the same filter = 44.</a:t>
            </a:r>
          </a:p>
          <a:p>
            <a:pPr>
              <a:spcAft>
                <a:spcPts val="600"/>
              </a:spcAft>
            </a:pPr>
            <a:r>
              <a:rPr sz="1000">
                <a:solidFill>
                  <a:srgbClr val="1F2A3A"/>
                </a:solidFill>
                <a:latin typeface="Calibri"/>
              </a:rPr>
              <a:t>• Result: 18/44 = 40.9%. 26 records have no usable text and keep an intake state.</a:t>
            </a:r>
          </a:p>
          <a:p>
            <a:pPr>
              <a:spcAft>
                <a:spcPts val="600"/>
              </a:spcAft>
            </a:pPr>
            <a:r>
              <a:rPr sz="1000">
                <a:solidFill>
                  <a:srgbClr val="1F2A3A"/>
                </a:solidFill>
                <a:latin typeface="Calibri"/>
              </a:rPr>
              <a:t>• After revision 2 the numerator rises by one (M07) and the denominator is unchanged.</a:t>
            </a:r>
          </a:p>
        </p:txBody>
      </p:sp>
      <p:sp>
        <p:nvSpPr>
          <p:cNvPr id="10" name="Rectangle 9"/>
          <p:cNvSpPr/>
          <p:nvPr/>
        </p:nvSpPr>
        <p:spPr>
          <a:xfrm>
            <a:off x="4540000" y="1580000"/>
            <a:ext cx="4100000" cy="205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0000" y="1670000"/>
            <a:ext cx="3800000" cy="250000"/>
          </a:xfrm>
          <a:prstGeom prst="rect">
            <a:avLst/>
          </a:prstGeom>
          <a:noFill/>
        </p:spPr>
        <p:txBody>
          <a:bodyPr wrap="square">
            <a:spAutoFit/>
          </a:bodyPr>
          <a:lstStyle/>
          <a:p>
            <a:pPr algn="l"/>
            <a:r>
              <a:rPr sz="1300" b="1">
                <a:solidFill>
                  <a:srgbClr val="0C1A2B"/>
                </a:solidFill>
                <a:latin typeface="Calibri"/>
              </a:rPr>
              <a:t>Analytical conclusion: M03 price change</a:t>
            </a:r>
          </a:p>
        </p:txBody>
      </p:sp>
      <p:sp>
        <p:nvSpPr>
          <p:cNvPr id="12" name="TextBox 11"/>
          <p:cNvSpPr txBox="1"/>
          <p:nvPr/>
        </p:nvSpPr>
        <p:spPr>
          <a:xfrm>
            <a:off x="4680000" y="1980000"/>
            <a:ext cx="3800000" cy="1500000"/>
          </a:xfrm>
          <a:prstGeom prst="rect">
            <a:avLst/>
          </a:prstGeom>
          <a:noFill/>
        </p:spPr>
        <p:txBody>
          <a:bodyPr wrap="square">
            <a:spAutoFit/>
          </a:bodyPr>
          <a:lstStyle/>
          <a:p>
            <a:pPr>
              <a:spcAft>
                <a:spcPts val="600"/>
              </a:spcAft>
            </a:pPr>
            <a:r>
              <a:rPr sz="1000">
                <a:solidFill>
                  <a:srgbClr val="1F2A3A"/>
                </a:solidFill>
                <a:latin typeface="Calibri"/>
              </a:rPr>
              <a:t>• Claim: the annual price moved inside one call.</a:t>
            </a:r>
          </a:p>
          <a:p>
            <a:pPr>
              <a:spcAft>
                <a:spcPts val="600"/>
              </a:spcAft>
            </a:pPr>
            <a:r>
              <a:rPr sz="1000">
                <a:solidFill>
                  <a:srgbClr val="1F2A3A"/>
                </a:solidFill>
                <a:latin typeface="Calibri"/>
              </a:rPr>
              <a:t>• Checked: turn 23 asks why INR 26,000 became INR 39,000; turn 24 splits INR 26,000 recurring and INR 13,000 one-time setup.</a:t>
            </a:r>
          </a:p>
          <a:p>
            <a:pPr>
              <a:spcAft>
                <a:spcPts val="600"/>
              </a:spcAft>
            </a:pPr>
            <a:r>
              <a:rPr sz="1000">
                <a:solidFill>
                  <a:srgbClr val="1F2A3A"/>
                </a:solidFill>
                <a:latin typeface="Calibri"/>
              </a:rPr>
              <a:t>• Conclusion kept, and routed to deal next steps plus coaching. The app re-verifies the quotation on every load.</a:t>
            </a:r>
          </a:p>
        </p:txBody>
      </p:sp>
      <p:sp>
        <p:nvSpPr>
          <p:cNvPr id="13" name="Rectangle 12"/>
          <p:cNvSpPr/>
          <p:nvPr/>
        </p:nvSpPr>
        <p:spPr>
          <a:xfrm>
            <a:off x="500000" y="3800000"/>
            <a:ext cx="8144000" cy="230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00" y="3890000"/>
            <a:ext cx="7800000" cy="250000"/>
          </a:xfrm>
          <a:prstGeom prst="rect">
            <a:avLst/>
          </a:prstGeom>
          <a:noFill/>
        </p:spPr>
        <p:txBody>
          <a:bodyPr wrap="square">
            <a:spAutoFit/>
          </a:bodyPr>
          <a:lstStyle/>
          <a:p>
            <a:pPr algn="l"/>
            <a:r>
              <a:rPr sz="1300" b="1">
                <a:solidFill>
                  <a:srgbClr val="0C1A2B"/>
                </a:solidFill>
                <a:latin typeface="Calibri"/>
              </a:rPr>
              <a:t>Duplicate and update replay — measured, not asserted</a:t>
            </a:r>
          </a:p>
        </p:txBody>
      </p:sp>
      <p:sp>
        <p:nvSpPr>
          <p:cNvPr id="15" name="TextBox 14"/>
          <p:cNvSpPr txBox="1"/>
          <p:nvPr/>
        </p:nvSpPr>
        <p:spPr>
          <a:xfrm>
            <a:off x="640000" y="4200000"/>
            <a:ext cx="7800000" cy="1800000"/>
          </a:xfrm>
          <a:prstGeom prst="rect">
            <a:avLst/>
          </a:prstGeom>
          <a:noFill/>
        </p:spPr>
        <p:txBody>
          <a:bodyPr wrap="square">
            <a:spAutoFit/>
          </a:bodyPr>
          <a:lstStyle/>
          <a:p>
            <a:pPr algn="l"/>
            <a:r>
              <a:rPr sz="1050" b="0">
                <a:solidFill>
                  <a:srgbClr val="1F2A3A"/>
                </a:solidFill>
                <a:latin typeface="Calibri"/>
              </a:rPr>
              <a:t>26/26 checks pass in the isolated replay harness.
Initial import: 44 records, 17 usable texts. Repeat import, shuffled: 0 inserted, 44 ignored, still 44. M07 manual route: effective Customer success, suggested unchanged. Update: 1 record updated in place, 0 inserted, coverage 18/44, M07 revision 2 with turns visible. Replay of revision 1: 0 inserted, 44 ignored, M07 still revision 2 with its transcript and override. Unrelated record C01 remains byte-identical. Export: every manifest path exists in the zip; JSON and CSV agree; a repeat export creates no second active version.</a:t>
            </a:r>
          </a:p>
        </p:txBody>
      </p:sp>
      <p:sp>
        <p:nvSpPr>
          <p:cNvPr id="16" name="TextBox 15"/>
          <p:cNvSpPr txBox="1"/>
          <p:nvPr/>
        </p:nvSpPr>
        <p:spPr>
          <a:xfrm>
            <a:off x="500000" y="6600000"/>
            <a:ext cx="8200000" cy="260000"/>
          </a:xfrm>
          <a:prstGeom prst="rect">
            <a:avLst/>
          </a:prstGeom>
          <a:noFill/>
        </p:spPr>
        <p:txBody>
          <a:bodyPr wrap="square">
            <a:spAutoFit/>
          </a:bodyPr>
          <a:lstStyle/>
          <a:p>
            <a:pPr algn="l"/>
            <a:r>
              <a:rPr sz="900" b="0">
                <a:solidFill>
                  <a:srgbClr val="5B6676"/>
                </a:solidFill>
                <a:latin typeface="Calibri"/>
              </a:rPr>
              <a:t>Deck generated from live endpoints at http://127.0.0.1:8000 · export version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50000"/>
          </a:xfrm>
          <a:prstGeom prst="rect">
            <a:avLst/>
          </a:prstGeom>
          <a:solidFill>
            <a:srgbClr val="0C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50000"/>
            <a:ext cx="1200000" cy="260000"/>
          </a:xfrm>
          <a:prstGeom prst="rect">
            <a:avLst/>
          </a:prstGeom>
          <a:noFill/>
        </p:spPr>
        <p:txBody>
          <a:bodyPr wrap="square">
            <a:spAutoFit/>
          </a:bodyPr>
          <a:lstStyle/>
          <a:p>
            <a:pPr algn="l"/>
            <a:r>
              <a:rPr sz="1200" b="1">
                <a:solidFill>
                  <a:srgbClr val="2549D8"/>
                </a:solidFill>
                <a:latin typeface="Calibri"/>
              </a:rPr>
              <a:t>05</a:t>
            </a:r>
          </a:p>
        </p:txBody>
      </p:sp>
      <p:sp>
        <p:nvSpPr>
          <p:cNvPr id="4" name="TextBox 3"/>
          <p:cNvSpPr txBox="1"/>
          <p:nvPr/>
        </p:nvSpPr>
        <p:spPr>
          <a:xfrm>
            <a:off x="500000" y="430000"/>
            <a:ext cx="8200000" cy="520000"/>
          </a:xfrm>
          <a:prstGeom prst="rect">
            <a:avLst/>
          </a:prstGeom>
          <a:noFill/>
        </p:spPr>
        <p:txBody>
          <a:bodyPr wrap="square">
            <a:spAutoFit/>
          </a:bodyPr>
          <a:lstStyle/>
          <a:p>
            <a:pPr algn="l"/>
            <a:r>
              <a:rPr sz="2600" b="1">
                <a:solidFill>
                  <a:srgbClr val="0C1A2B"/>
                </a:solidFill>
                <a:latin typeface="Calibri"/>
              </a:rPr>
              <a:t>Trade-offs, rejected decision and what I would do next</a:t>
            </a:r>
          </a:p>
        </p:txBody>
      </p:sp>
      <p:sp>
        <p:nvSpPr>
          <p:cNvPr id="5" name="TextBox 4"/>
          <p:cNvSpPr txBox="1"/>
          <p:nvPr/>
        </p:nvSpPr>
        <p:spPr>
          <a:xfrm>
            <a:off x="500000" y="960000"/>
            <a:ext cx="8200000" cy="400000"/>
          </a:xfrm>
          <a:prstGeom prst="rect">
            <a:avLst/>
          </a:prstGeom>
          <a:noFill/>
        </p:spPr>
        <p:txBody>
          <a:bodyPr wrap="square">
            <a:spAutoFit/>
          </a:bodyPr>
          <a:lstStyle/>
          <a:p>
            <a:pPr algn="l"/>
            <a:r>
              <a:rPr sz="1200" b="0">
                <a:solidFill>
                  <a:srgbClr val="5B6676"/>
                </a:solidFill>
                <a:latin typeface="Calibri"/>
              </a:rPr>
              <a:t>Pre-generated content is labelled; runtime facts are computed; limitations are explicit.</a:t>
            </a:r>
          </a:p>
        </p:txBody>
      </p:sp>
      <p:sp>
        <p:nvSpPr>
          <p:cNvPr id="6" name="Rectangle 5"/>
          <p:cNvSpPr/>
          <p:nvPr/>
        </p:nvSpPr>
        <p:spPr>
          <a:xfrm>
            <a:off x="500000" y="1380000"/>
            <a:ext cx="8144000" cy="9000"/>
          </a:xfrm>
          <a:prstGeom prst="rect">
            <a:avLst/>
          </a:prstGeom>
          <a:solidFill>
            <a:srgbClr val="E4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1580000"/>
            <a:ext cx="4000000" cy="2600000"/>
          </a:xfrm>
          <a:prstGeom prst="rect">
            <a:avLst/>
          </a:prstGeom>
          <a:noFill/>
        </p:spPr>
        <p:txBody>
          <a:bodyPr wrap="square">
            <a:spAutoFit/>
          </a:bodyPr>
          <a:lstStyle/>
          <a:p>
            <a:pPr>
              <a:spcAft>
                <a:spcPts val="600"/>
              </a:spcAft>
            </a:pPr>
            <a:r>
              <a:rPr sz="1050">
                <a:solidFill>
                  <a:srgbClr val="1F2A3A"/>
                </a:solidFill>
                <a:latin typeface="Calibri"/>
              </a:rPr>
              <a:t>• Pre-generated: the 18 analyses, the brief narrative, findings and rejected decision. Each records the revision it was written for.</a:t>
            </a:r>
          </a:p>
          <a:p>
            <a:pPr>
              <a:spcAft>
                <a:spcPts val="600"/>
              </a:spcAft>
            </a:pPr>
            <a:r>
              <a:rPr sz="1050">
                <a:solidFill>
                  <a:srgbClr val="1F2A3A"/>
                </a:solidFill>
                <a:latin typeface="Calibri"/>
              </a:rPr>
              <a:t>• Runtime: counts, denominators, filters, routing rules, freshness, citation checks, exports and test results.</a:t>
            </a:r>
          </a:p>
          <a:p>
            <a:pPr>
              <a:spcAft>
                <a:spcPts val="600"/>
              </a:spcAft>
            </a:pPr>
            <a:r>
              <a:rPr sz="1050">
                <a:solidFill>
                  <a:srgbClr val="1F2A3A"/>
                </a:solidFill>
                <a:latin typeface="Calibri"/>
              </a:rPr>
              <a:t>• New text is never shown against an old analysis: it is refreshed or visibly marked pending review, and never silently replaced.</a:t>
            </a:r>
          </a:p>
          <a:p>
            <a:pPr>
              <a:spcAft>
                <a:spcPts val="600"/>
              </a:spcAft>
            </a:pPr>
            <a:r>
              <a:rPr sz="1050">
                <a:solidFill>
                  <a:srgbClr val="1F2A3A"/>
                </a:solidFill>
                <a:latin typeface="Calibri"/>
              </a:rPr>
              <a:t>• Trade-off: static analyses cannot re-read a materially different transcript; the app flags that instead of faking certainty.</a:t>
            </a:r>
          </a:p>
          <a:p>
            <a:pPr>
              <a:spcAft>
                <a:spcPts val="600"/>
              </a:spcAft>
            </a:pPr>
            <a:r>
              <a:rPr sz="1050">
                <a:solidFill>
                  <a:srgbClr val="1F2A3A"/>
                </a:solidFill>
                <a:latin typeface="Calibri"/>
              </a:rPr>
              <a:t>• SQLite keeps the demo reproducible; multi-user editing would need a server database and auth.</a:t>
            </a:r>
          </a:p>
        </p:txBody>
      </p:sp>
      <p:sp>
        <p:nvSpPr>
          <p:cNvPr id="8" name="Rectangle 7"/>
          <p:cNvSpPr/>
          <p:nvPr/>
        </p:nvSpPr>
        <p:spPr>
          <a:xfrm>
            <a:off x="4650000" y="1580000"/>
            <a:ext cx="3994000" cy="2600000"/>
          </a:xfrm>
          <a:prstGeom prst="rect">
            <a:avLst/>
          </a:prstGeom>
          <a:solidFill>
            <a:srgbClr val="F2F4F8"/>
          </a:solidFill>
          <a:ln>
            <a:solidFill>
              <a:srgbClr val="E4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90000" y="1670000"/>
            <a:ext cx="3700000" cy="250000"/>
          </a:xfrm>
          <a:prstGeom prst="rect">
            <a:avLst/>
          </a:prstGeom>
          <a:noFill/>
        </p:spPr>
        <p:txBody>
          <a:bodyPr wrap="square">
            <a:spAutoFit/>
          </a:bodyPr>
          <a:lstStyle/>
          <a:p>
            <a:pPr algn="l"/>
            <a:r>
              <a:rPr sz="1300" b="1">
                <a:solidFill>
                  <a:srgbClr val="0C1A2B"/>
                </a:solidFill>
                <a:latin typeface="Calibri"/>
              </a:rPr>
              <a:t>Rejected: route M02 as a deal</a:t>
            </a:r>
          </a:p>
        </p:txBody>
      </p:sp>
      <p:sp>
        <p:nvSpPr>
          <p:cNvPr id="10" name="TextBox 9"/>
          <p:cNvSpPr txBox="1"/>
          <p:nvPr/>
        </p:nvSpPr>
        <p:spPr>
          <a:xfrm>
            <a:off x="4790000" y="1980000"/>
            <a:ext cx="3700000" cy="2100000"/>
          </a:xfrm>
          <a:prstGeom prst="rect">
            <a:avLst/>
          </a:prstGeom>
          <a:noFill/>
        </p:spPr>
        <p:txBody>
          <a:bodyPr wrap="square">
            <a:spAutoFit/>
          </a:bodyPr>
          <a:lstStyle/>
          <a:p>
            <a:pPr algn="l"/>
            <a:r>
              <a:rPr sz="950" b="0">
                <a:solidFill>
                  <a:srgbClr val="5B6676"/>
                </a:solidFill>
                <a:latin typeface="Calibri"/>
              </a:rPr>
              <a:t>SpendNest is the buyer in that conversation. At turn 30 the SpendNest lead confirms the commercial relationship is SpendNest providing the capability to its own customers, with LedgerBridge as the supplier. Keyword routing sees 'proposal', 'pricing' and 'setup fee' and would file a procurement decision as a sales opportunity, inflating the deal count and putting a supplier negotiation in front of a sales manager as revenue.
Trade-off accepted: The record is split across internal/vendor and customer follow-up, so its commercial analysis sits in a separate folder from deals. A manager scanning only deal outputs will not see a EUR 6,500 implementation cost decision there; the brief therefore lists it explicitly under internal and vendor matters.
Appears in: The routing taxonomy's internal/vendor definition, M02's route rationale, the deterministic supplier guardrail in the routing engine, and the manager brief's internal section.</a:t>
            </a:r>
          </a:p>
        </p:txBody>
      </p:sp>
      <p:sp>
        <p:nvSpPr>
          <p:cNvPr id="11" name="TextBox 10"/>
          <p:cNvSpPr txBox="1"/>
          <p:nvPr/>
        </p:nvSpPr>
        <p:spPr>
          <a:xfrm>
            <a:off x="500000" y="4400000"/>
            <a:ext cx="8144000" cy="240000"/>
          </a:xfrm>
          <a:prstGeom prst="rect">
            <a:avLst/>
          </a:prstGeom>
          <a:noFill/>
        </p:spPr>
        <p:txBody>
          <a:bodyPr wrap="square">
            <a:spAutoFit/>
          </a:bodyPr>
          <a:lstStyle/>
          <a:p>
            <a:pPr algn="l"/>
            <a:r>
              <a:rPr sz="1300" b="1">
                <a:solidFill>
                  <a:srgbClr val="0C1A2B"/>
                </a:solidFill>
                <a:latin typeface="Calibri"/>
              </a:rPr>
              <a:t>Known limitations</a:t>
            </a:r>
          </a:p>
        </p:txBody>
      </p:sp>
      <p:sp>
        <p:nvSpPr>
          <p:cNvPr id="12" name="TextBox 11"/>
          <p:cNvSpPr txBox="1"/>
          <p:nvPr/>
        </p:nvSpPr>
        <p:spPr>
          <a:xfrm>
            <a:off x="500000" y="4700000"/>
            <a:ext cx="8144000" cy="1300000"/>
          </a:xfrm>
          <a:prstGeom prst="rect">
            <a:avLst/>
          </a:prstGeom>
          <a:noFill/>
        </p:spPr>
        <p:txBody>
          <a:bodyPr wrap="square">
            <a:spAutoFit/>
          </a:bodyPr>
          <a:lstStyle/>
          <a:p>
            <a:pPr>
              <a:spcAft>
                <a:spcPts val="600"/>
              </a:spcAft>
            </a:pPr>
            <a:r>
              <a:rPr sz="1000">
                <a:solidFill>
                  <a:srgbClr val="1F2A3A"/>
                </a:solidFill>
                <a:latin typeface="Calibri"/>
              </a:rPr>
              <a:t>• 26 records carry no usable text; they get intake states and needs-review outputs, never invented analysis.</a:t>
            </a:r>
          </a:p>
          <a:p>
            <a:pPr>
              <a:spcAft>
                <a:spcPts val="600"/>
              </a:spcAft>
            </a:pPr>
            <a:r>
              <a:rPr sz="1000">
                <a:solidFill>
                  <a:srgbClr val="1F2A3A"/>
                </a:solidFill>
                <a:latin typeface="Calibri"/>
              </a:rPr>
              <a:t>• No CRM or account graph, so no pipeline value, deal outcomes or cross-person ranking.</a:t>
            </a:r>
          </a:p>
          <a:p>
            <a:pPr>
              <a:spcAft>
                <a:spcPts val="600"/>
              </a:spcAft>
            </a:pPr>
            <a:r>
              <a:rPr sz="1000">
                <a:solidFill>
                  <a:srgbClr val="1F2A3A"/>
                </a:solidFill>
                <a:latin typeface="Calibri"/>
              </a:rPr>
              <a:t>• Meeting speaker labels are local to each meeting; organisers are not mapped to speakers.</a:t>
            </a:r>
          </a:p>
          <a:p>
            <a:pPr>
              <a:spcAft>
                <a:spcPts val="600"/>
              </a:spcAft>
            </a:pPr>
            <a:r>
              <a:rPr sz="1000">
                <a:solidFill>
                  <a:srgbClr val="1F2A3A"/>
                </a:solidFill>
                <a:latin typeface="Calibri"/>
              </a:rPr>
              <a:t>• The backend needs a Python host for deployment; a static host alone is insufficient.</a:t>
            </a:r>
          </a:p>
        </p:txBody>
      </p:sp>
      <p:sp>
        <p:nvSpPr>
          <p:cNvPr id="13" name="TextBox 12"/>
          <p:cNvSpPr txBox="1"/>
          <p:nvPr/>
        </p:nvSpPr>
        <p:spPr>
          <a:xfrm>
            <a:off x="500000" y="6020000"/>
            <a:ext cx="8144000" cy="300000"/>
          </a:xfrm>
          <a:prstGeom prst="rect">
            <a:avLst/>
          </a:prstGeom>
          <a:noFill/>
        </p:spPr>
        <p:txBody>
          <a:bodyPr wrap="square">
            <a:spAutoFit/>
          </a:bodyPr>
          <a:lstStyle/>
          <a:p>
            <a:pPr algn="l"/>
            <a:r>
              <a:rPr sz="1050" b="1">
                <a:solidFill>
                  <a:srgbClr val="2549D8"/>
                </a:solidFill>
                <a:latin typeface="Calibri"/>
              </a:rPr>
              <a:t>Next improvement: a review queue that lets a manager re-run the rules on a changed transcript and diff the previous analysis, instead of only flagging it.</a:t>
            </a:r>
          </a:p>
        </p:txBody>
      </p:sp>
      <p:sp>
        <p:nvSpPr>
          <p:cNvPr id="14" name="TextBox 13"/>
          <p:cNvSpPr txBox="1"/>
          <p:nvPr/>
        </p:nvSpPr>
        <p:spPr>
          <a:xfrm>
            <a:off x="500000" y="6600000"/>
            <a:ext cx="8200000" cy="260000"/>
          </a:xfrm>
          <a:prstGeom prst="rect">
            <a:avLst/>
          </a:prstGeom>
          <a:noFill/>
        </p:spPr>
        <p:txBody>
          <a:bodyPr wrap="square">
            <a:spAutoFit/>
          </a:bodyPr>
          <a:lstStyle/>
          <a:p>
            <a:pPr algn="l"/>
            <a:r>
              <a:rPr sz="900" b="0">
                <a:solidFill>
                  <a:srgbClr val="5B6676"/>
                </a:solidFill>
                <a:latin typeface="Calibri"/>
              </a:rPr>
              <a:t>Deck is editable: docs/five-slides.pptx · regenerate with tools/build_deck.py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